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583680" cy="6583680"/>
          </a:xfrm>
          <a:prstGeom prst="ellipse">
            <a:avLst/>
          </a:prstGeom>
          <a:solidFill>
            <a:srgbClr val="065A82">
              <a:alpha val="3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560320" y="4206240"/>
            <a:ext cx="5120640" cy="512064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08676" y="914400"/>
            <a:ext cx="1371600" cy="13716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" name="Text 3"/>
          <p:cNvSpPr txBox="1"/>
          <p:nvPr/>
        </p:nvSpPr>
        <p:spPr>
          <a:xfrm>
            <a:off x="5541010" y="1234440"/>
            <a:ext cx="1100455" cy="768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GB" sz="2250" dirty="0">
                <a:solidFill>
                  <a:schemeClr val="bg1"/>
                </a:solidFill>
              </a:rPr>
              <a:t>IBMinds</a:t>
            </a:r>
            <a:endParaRPr lang="en-US" altLang="en-GB" sz="22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371600" y="251460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SupplyGuard AI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429000"/>
            <a:ext cx="88971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Read-Only Supply-Chain Control Center for Shipment Risk,</a:t>
            </a:r>
            <a:endParaRPr lang="en-US" sz="17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Disruptions, Fleet Capacity &amp; Cold-Chain Monitoring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526280"/>
            <a:ext cx="889711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Bob AI Hackathon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4919472"/>
            <a:ext cx="88971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CSPIT (CHARUSAT)  ·  Information Technology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9B8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Jatin Solanki  ·  Shubham Zala  ·  Keval Dabhi  ·  Keval Surela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1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Supply-chain teams need to know which shipments are at risk, why, and whether the network has capacity to respond.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478024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" name="Text 4"/>
          <p:cNvSpPr txBox="1"/>
          <p:nvPr/>
        </p:nvSpPr>
        <p:spPr>
          <a:xfrm>
            <a:off x="777240" y="2368296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feels it: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42616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Supply-chain and logistics operations teams running day-to-day triage.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648456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9" name="Text 7"/>
          <p:cNvSpPr txBox="1"/>
          <p:nvPr/>
        </p:nvSpPr>
        <p:spPr>
          <a:xfrm>
            <a:off x="777240" y="353872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breaks down: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13048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Shipment, disruption, fleet, and sensor signals live in separate systems.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818888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 txBox="1"/>
          <p:nvPr/>
        </p:nvSpPr>
        <p:spPr>
          <a:xfrm>
            <a:off x="777240" y="470916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98348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Triage slows down, and the evidence behind a decision is hard to trace.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2400300" cy="1691640"/>
          </a:xfrm>
          <a:prstGeom prst="roundRect">
            <a:avLst>
              <a:gd name="adj" fmla="val 648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8886" y="1865376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4"/>
          <p:cNvSpPr txBox="1"/>
          <p:nvPr/>
        </p:nvSpPr>
        <p:spPr>
          <a:xfrm>
            <a:off x="7213610" y="2008388"/>
            <a:ext cx="317480" cy="31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60320"/>
            <a:ext cx="22174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Shipment Systems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92540" y="1600200"/>
            <a:ext cx="2400300" cy="1691640"/>
          </a:xfrm>
          <a:prstGeom prst="roundRect">
            <a:avLst>
              <a:gd name="adj" fmla="val 648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09226" y="1865376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0" name="Text 18"/>
          <p:cNvSpPr txBox="1"/>
          <p:nvPr/>
        </p:nvSpPr>
        <p:spPr>
          <a:xfrm>
            <a:off x="9933950" y="2008388"/>
            <a:ext cx="317480" cy="31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8983980" y="2560320"/>
            <a:ext cx="22174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Disruption Feeds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72200" y="3520440"/>
            <a:ext cx="2400300" cy="1691640"/>
          </a:xfrm>
          <a:prstGeom prst="roundRect">
            <a:avLst>
              <a:gd name="adj" fmla="val 648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88886" y="3785616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4" name="Text 22"/>
          <p:cNvSpPr txBox="1"/>
          <p:nvPr/>
        </p:nvSpPr>
        <p:spPr>
          <a:xfrm>
            <a:off x="7213610" y="3928628"/>
            <a:ext cx="317480" cy="31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480560"/>
            <a:ext cx="22174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Fleet Records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892540" y="3520440"/>
            <a:ext cx="2400300" cy="1691640"/>
          </a:xfrm>
          <a:prstGeom prst="roundRect">
            <a:avLst>
              <a:gd name="adj" fmla="val 648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809226" y="3785616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8" name="Text 26"/>
          <p:cNvSpPr txBox="1"/>
          <p:nvPr/>
        </p:nvSpPr>
        <p:spPr>
          <a:xfrm>
            <a:off x="9933950" y="3928628"/>
            <a:ext cx="317480" cy="31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8983980" y="4480560"/>
            <a:ext cx="22174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Streams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53492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Disconnected data  →  slower triage, harder-to-trace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1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React operations dashboard, an Express/Mongoose API, and a deterministic risk engine — unifying every signal a triage team needs, read-only.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1920240" cy="1920240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6" name="Text 4"/>
          <p:cNvSpPr txBox="1"/>
          <p:nvPr/>
        </p:nvSpPr>
        <p:spPr>
          <a:xfrm>
            <a:off x="1371600" y="365760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SupplyGuard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2103120"/>
            <a:ext cx="1645920" cy="1965960"/>
          </a:xfrm>
          <a:prstGeom prst="line">
            <a:avLst/>
          </a:prstGeom>
          <a:noFill/>
          <a:ln w="15875">
            <a:solidFill>
              <a:srgbClr val="C7D6E5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291840" y="3794760"/>
            <a:ext cx="1645920" cy="274320"/>
          </a:xfrm>
          <a:prstGeom prst="line">
            <a:avLst/>
          </a:prstGeom>
          <a:noFill/>
          <a:ln w="15875">
            <a:solidFill>
              <a:srgbClr val="C7D6E5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291840" y="4069080"/>
            <a:ext cx="1645920" cy="1417320"/>
          </a:xfrm>
          <a:prstGeom prst="line">
            <a:avLst/>
          </a:prstGeom>
          <a:noFill/>
          <a:ln w="15875">
            <a:solidFill>
              <a:srgbClr val="C7D6E5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91840" y="2103120"/>
            <a:ext cx="5257800" cy="1965960"/>
          </a:xfrm>
          <a:prstGeom prst="line">
            <a:avLst/>
          </a:prstGeom>
          <a:noFill/>
          <a:ln w="15875">
            <a:solidFill>
              <a:srgbClr val="C7D6E5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91840" y="3794760"/>
            <a:ext cx="5257800" cy="274320"/>
          </a:xfrm>
          <a:prstGeom prst="line">
            <a:avLst/>
          </a:prstGeom>
          <a:noFill/>
          <a:ln w="15875">
            <a:solidFill>
              <a:srgbClr val="C7D6E5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291840" y="4069080"/>
            <a:ext cx="5257800" cy="1417320"/>
          </a:xfrm>
          <a:prstGeom prst="line">
            <a:avLst/>
          </a:prstGeom>
          <a:noFill/>
          <a:ln w="15875">
            <a:solidFill>
              <a:srgbClr val="C7D6E5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636008" y="1801368"/>
            <a:ext cx="603504" cy="6035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4" name="Text 12"/>
          <p:cNvSpPr txBox="1"/>
          <p:nvPr/>
        </p:nvSpPr>
        <p:spPr>
          <a:xfrm>
            <a:off x="4768779" y="1952427"/>
            <a:ext cx="337962" cy="3379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</a:t>
            </a:r>
            <a:endParaRPr lang="en-US" sz="99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174650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Shipment &amp; Risk KPIs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207568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counts across every risk level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36008" y="3493008"/>
            <a:ext cx="603504" cy="6035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 txBox="1"/>
          <p:nvPr/>
        </p:nvSpPr>
        <p:spPr>
          <a:xfrm>
            <a:off x="4768779" y="3644067"/>
            <a:ext cx="337962" cy="3379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</a:t>
            </a:r>
            <a:endParaRPr lang="en-US" sz="99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343814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Disruptions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376732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Impacted shipments at a glance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36008" y="5184648"/>
            <a:ext cx="603504" cy="6035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2" name="Text 20"/>
          <p:cNvSpPr txBox="1"/>
          <p:nvPr/>
        </p:nvSpPr>
        <p:spPr>
          <a:xfrm>
            <a:off x="4768779" y="5335707"/>
            <a:ext cx="337962" cy="3379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</a:t>
            </a:r>
            <a:endParaRPr lang="en-US" sz="99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512978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Cold-Chain Alerts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330952" y="545896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excursions &amp; readings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47888" y="1801368"/>
            <a:ext cx="603504" cy="6035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6" name="Text 24"/>
          <p:cNvSpPr txBox="1"/>
          <p:nvPr/>
        </p:nvSpPr>
        <p:spPr>
          <a:xfrm>
            <a:off x="8380659" y="1952427"/>
            <a:ext cx="337962" cy="3379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</a:t>
            </a:r>
            <a:endParaRPr lang="en-US" sz="990" dirty="0"/>
          </a:p>
        </p:txBody>
      </p:sp>
      <p:sp>
        <p:nvSpPr>
          <p:cNvPr id="27" name="Text 25"/>
          <p:cNvSpPr txBox="1"/>
          <p:nvPr/>
        </p:nvSpPr>
        <p:spPr>
          <a:xfrm>
            <a:off x="8942832" y="174650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Risk Scores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942832" y="207568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evidence behind every 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47888" y="3493008"/>
            <a:ext cx="603504" cy="6035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0" name="Text 28"/>
          <p:cNvSpPr txBox="1"/>
          <p:nvPr/>
        </p:nvSpPr>
        <p:spPr>
          <a:xfrm>
            <a:off x="8380659" y="3644067"/>
            <a:ext cx="337962" cy="3379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</a:t>
            </a:r>
            <a:endParaRPr lang="en-US" sz="99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343814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Fleet Utilization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942832" y="376732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vehicles by region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47888" y="5184648"/>
            <a:ext cx="603504" cy="6035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4" name="Text 32"/>
          <p:cNvSpPr txBox="1"/>
          <p:nvPr/>
        </p:nvSpPr>
        <p:spPr>
          <a:xfrm>
            <a:off x="8380659" y="5335707"/>
            <a:ext cx="337962" cy="3379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</a:t>
            </a:r>
            <a:endParaRPr lang="en-US" sz="990" dirty="0"/>
          </a:p>
        </p:txBody>
      </p:sp>
      <p:sp>
        <p:nvSpPr>
          <p:cNvPr id="35" name="Text 33"/>
          <p:cNvSpPr txBox="1"/>
          <p:nvPr/>
        </p:nvSpPr>
        <p:spPr>
          <a:xfrm>
            <a:off x="8942832" y="512978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Grounded Assistant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942832" y="545896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backed by real records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1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74236" y="141732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25696" y="155448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" name="Text 4"/>
          <p:cNvSpPr txBox="1"/>
          <p:nvPr/>
        </p:nvSpPr>
        <p:spPr>
          <a:xfrm>
            <a:off x="4536338" y="1683410"/>
            <a:ext cx="281635" cy="281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</a:t>
            </a:r>
            <a:endParaRPr lang="en-US" sz="825" dirty="0"/>
          </a:p>
        </p:txBody>
      </p:sp>
      <p:sp>
        <p:nvSpPr>
          <p:cNvPr id="7" name="Text 5"/>
          <p:cNvSpPr txBox="1"/>
          <p:nvPr/>
        </p:nvSpPr>
        <p:spPr>
          <a:xfrm>
            <a:off x="5042916" y="141732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 Frontend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74236" y="260604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25696" y="274320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0" name="Text 8"/>
          <p:cNvSpPr txBox="1"/>
          <p:nvPr/>
        </p:nvSpPr>
        <p:spPr>
          <a:xfrm>
            <a:off x="4536338" y="2872130"/>
            <a:ext cx="281635" cy="281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</a:t>
            </a:r>
            <a:endParaRPr lang="en-US" sz="825" dirty="0"/>
          </a:p>
        </p:txBody>
      </p:sp>
      <p:sp>
        <p:nvSpPr>
          <p:cNvPr id="11" name="Text 9"/>
          <p:cNvSpPr txBox="1"/>
          <p:nvPr/>
        </p:nvSpPr>
        <p:spPr>
          <a:xfrm>
            <a:off x="5042916" y="260604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 5 API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4476" y="2194560"/>
            <a:ext cx="0" cy="411480"/>
          </a:xfrm>
          <a:prstGeom prst="line">
            <a:avLst/>
          </a:prstGeom>
          <a:noFill/>
          <a:ln w="19050">
            <a:solidFill>
              <a:srgbClr val="9AAFC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231636" y="22677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over HTTP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4476" y="3383280"/>
            <a:ext cx="0" cy="320040"/>
          </a:xfrm>
          <a:prstGeom prst="line">
            <a:avLst/>
          </a:prstGeom>
          <a:noFill/>
          <a:ln w="19050">
            <a:solidFill>
              <a:srgbClr val="9AAFC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238756" y="3703320"/>
            <a:ext cx="7711440" cy="0"/>
          </a:xfrm>
          <a:prstGeom prst="line">
            <a:avLst/>
          </a:prstGeom>
          <a:noFill/>
          <a:ln w="19050">
            <a:solidFill>
              <a:srgbClr val="9AAFC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238756" y="3703320"/>
            <a:ext cx="0" cy="91440"/>
          </a:xfrm>
          <a:prstGeom prst="line">
            <a:avLst/>
          </a:prstGeom>
          <a:noFill/>
          <a:ln w="19050">
            <a:solidFill>
              <a:srgbClr val="9AAF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94476" y="3703320"/>
            <a:ext cx="0" cy="91440"/>
          </a:xfrm>
          <a:prstGeom prst="line">
            <a:avLst/>
          </a:prstGeom>
          <a:noFill/>
          <a:ln w="19050">
            <a:solidFill>
              <a:srgbClr val="9AAF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50196" y="3703320"/>
            <a:ext cx="0" cy="91440"/>
          </a:xfrm>
          <a:prstGeom prst="line">
            <a:avLst/>
          </a:prstGeom>
          <a:noFill/>
          <a:ln w="19050">
            <a:solidFill>
              <a:srgbClr val="9AAF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794760"/>
            <a:ext cx="3563112" cy="1874520"/>
          </a:xfrm>
          <a:prstGeom prst="roundRect">
            <a:avLst>
              <a:gd name="adj" fmla="val 5854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64436" y="3977640"/>
            <a:ext cx="548640" cy="548640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21" name="Text 19"/>
          <p:cNvSpPr txBox="1"/>
          <p:nvPr/>
        </p:nvSpPr>
        <p:spPr>
          <a:xfrm>
            <a:off x="2085137" y="4116629"/>
            <a:ext cx="307238" cy="307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572000"/>
            <a:ext cx="3288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Services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92040"/>
            <a:ext cx="31973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engine + shipment, disruption, fleet &amp; sensor logic, backed by MongoDB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2920" y="3794760"/>
            <a:ext cx="3563112" cy="1874520"/>
          </a:xfrm>
          <a:prstGeom prst="roundRect">
            <a:avLst>
              <a:gd name="adj" fmla="val 5854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20156" y="3977640"/>
            <a:ext cx="548640" cy="548640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26" name="Text 24"/>
          <p:cNvSpPr txBox="1"/>
          <p:nvPr/>
        </p:nvSpPr>
        <p:spPr>
          <a:xfrm>
            <a:off x="5940857" y="4116629"/>
            <a:ext cx="307238" cy="307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450080" y="4572000"/>
            <a:ext cx="3288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AI Contract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95800" y="4892040"/>
            <a:ext cx="31973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Provider-neutral, timeout-bounded, response-validated — disabled by default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68640" y="3794760"/>
            <a:ext cx="3563112" cy="1874520"/>
          </a:xfrm>
          <a:prstGeom prst="roundRect">
            <a:avLst>
              <a:gd name="adj" fmla="val 5854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75876" y="3977640"/>
            <a:ext cx="548640" cy="548640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1" name="Text 29"/>
          <p:cNvSpPr txBox="1"/>
          <p:nvPr/>
        </p:nvSpPr>
        <p:spPr>
          <a:xfrm>
            <a:off x="9796577" y="4116629"/>
            <a:ext cx="307238" cy="307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305800" y="4572000"/>
            <a:ext cx="3288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 MCP Adapter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51520" y="4892040"/>
            <a:ext cx="31973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Allow-listed tools, bounded inputs, no writes or raw database access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989320"/>
            <a:ext cx="11274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Frontend:  React 19  ·  React Router  ·  Vite  ·  Tailwind CSS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281928"/>
            <a:ext cx="11274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Backend:  Node.js 20+  ·  Express 5  ·  Mongoose 8  ·  MongoDB  ·  Helmet  ·  CORS  ·  Rate Limiting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WALKTHROUGH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1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Feature: Explainable Risk Engine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risk score traces back to evidence — from the shipment list to a rule-backed explanation to a recommended next step.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00428" y="2414016"/>
            <a:ext cx="658368" cy="65836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7" name="Text 5"/>
          <p:cNvSpPr txBox="1"/>
          <p:nvPr/>
        </p:nvSpPr>
        <p:spPr>
          <a:xfrm>
            <a:off x="2045269" y="2577145"/>
            <a:ext cx="368686" cy="3686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3179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· Risk Shipment List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93592"/>
            <a:ext cx="308762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Shipments ranked LOW → CRITICAL, filterable by status, priority, and region.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02024" y="33147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22064" y="214884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5292" y="2414016"/>
            <a:ext cx="658368" cy="65836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3" name="Text 11"/>
          <p:cNvSpPr txBox="1"/>
          <p:nvPr/>
        </p:nvSpPr>
        <p:spPr>
          <a:xfrm>
            <a:off x="5910133" y="2577145"/>
            <a:ext cx="368686" cy="3686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4504944" y="3200400"/>
            <a:ext cx="3179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· Risk Detail &amp; Evidence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50664" y="3593592"/>
            <a:ext cx="308762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Triggered rules, risk reasons, and the affected shipment / vehicle IDs behind the score.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6888" y="33147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6928" y="214884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30156" y="2414016"/>
            <a:ext cx="658368" cy="65836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9" name="Text 17"/>
          <p:cNvSpPr txBox="1"/>
          <p:nvPr/>
        </p:nvSpPr>
        <p:spPr>
          <a:xfrm>
            <a:off x="9774997" y="2577145"/>
            <a:ext cx="368686" cy="3686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8369808" y="3200400"/>
            <a:ext cx="3179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· Recommended Action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15528" y="3593592"/>
            <a:ext cx="308762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suggested review step for the team — always human-confirmed, never auto-applied.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74552" cy="1234440"/>
          </a:xfrm>
          <a:prstGeom prst="roundRect">
            <a:avLst>
              <a:gd name="adj" fmla="val 8889"/>
            </a:avLst>
          </a:prstGeom>
          <a:solidFill>
            <a:srgbClr val="065A82"/>
          </a:solidFill>
        </p:spPr>
      </p:sp>
      <p:sp>
        <p:nvSpPr>
          <p:cNvPr id="23" name="Shape 21"/>
          <p:cNvSpPr/>
          <p:nvPr/>
        </p:nvSpPr>
        <p:spPr>
          <a:xfrm>
            <a:off x="937260" y="512064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4" name="Text 22"/>
          <p:cNvSpPr txBox="1"/>
          <p:nvPr/>
        </p:nvSpPr>
        <p:spPr>
          <a:xfrm>
            <a:off x="1108253" y="5309921"/>
            <a:ext cx="435254" cy="43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</a:t>
            </a:r>
            <a:endParaRPr lang="en-US" sz="1275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7492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included: a grounded logistics assistant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5440680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logistics questions using only real shipment, disruption, fleet, and sensor records — with a transparent, clearly-labeled deterministic fallback whenever runtime AI is off.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IBM BOB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1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IBM Technologies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31536" cy="3611880"/>
          </a:xfrm>
          <a:prstGeom prst="roundRect">
            <a:avLst>
              <a:gd name="adj" fmla="val 3038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2940" y="1805940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 txBox="1"/>
          <p:nvPr/>
        </p:nvSpPr>
        <p:spPr>
          <a:xfrm>
            <a:off x="833933" y="1995221"/>
            <a:ext cx="435254" cy="43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4059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Development: IBM Bob AI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77240" y="2907792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9" name="Text 7"/>
          <p:cNvSpPr txBox="1"/>
          <p:nvPr/>
        </p:nvSpPr>
        <p:spPr>
          <a:xfrm>
            <a:off x="1024128" y="2761488"/>
            <a:ext cx="45628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Helped design, build, and document the full-stack application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685032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1" name="Text 9"/>
          <p:cNvSpPr txBox="1"/>
          <p:nvPr/>
        </p:nvSpPr>
        <p:spPr>
          <a:xfrm>
            <a:off x="1024128" y="3538728"/>
            <a:ext cx="45628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Assisted with test suites, QA evidence, and repo structure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3" name="Text 11"/>
          <p:cNvSpPr txBox="1"/>
          <p:nvPr/>
        </p:nvSpPr>
        <p:spPr>
          <a:xfrm>
            <a:off x="1024128" y="4315968"/>
            <a:ext cx="45628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development-time collaborator — not part of the deployed app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0216" y="1600200"/>
            <a:ext cx="5431536" cy="3611880"/>
          </a:xfrm>
          <a:prstGeom prst="roundRect">
            <a:avLst>
              <a:gd name="adj" fmla="val 3038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05956" y="1805940"/>
            <a:ext cx="777240" cy="777240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16" name="Text 14"/>
          <p:cNvSpPr txBox="1"/>
          <p:nvPr/>
        </p:nvSpPr>
        <p:spPr>
          <a:xfrm>
            <a:off x="6676949" y="1995221"/>
            <a:ext cx="435254" cy="43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</a:t>
            </a:r>
            <a:endParaRPr lang="en-US" sz="1275" dirty="0"/>
          </a:p>
        </p:txBody>
      </p:sp>
      <p:sp>
        <p:nvSpPr>
          <p:cNvPr id="17" name="Text 15"/>
          <p:cNvSpPr txBox="1"/>
          <p:nvPr/>
        </p:nvSpPr>
        <p:spPr>
          <a:xfrm>
            <a:off x="7443216" y="1920240"/>
            <a:ext cx="4059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Runtime: Disabled by Default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620256" y="2907792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19" name="Text 17"/>
          <p:cNvSpPr txBox="1"/>
          <p:nvPr/>
        </p:nvSpPr>
        <p:spPr>
          <a:xfrm>
            <a:off x="6867144" y="2761488"/>
            <a:ext cx="45628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Deployed app runs on a deterministic, rule-based risk engine only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0256" y="3685032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21" name="Text 19"/>
          <p:cNvSpPr txBox="1"/>
          <p:nvPr/>
        </p:nvSpPr>
        <p:spPr>
          <a:xfrm>
            <a:off x="6867144" y="3538728"/>
            <a:ext cx="45628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provider-neutral AI contract is ready for a future adapter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0256" y="4462272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23" name="Text 21"/>
          <p:cNvSpPr txBox="1"/>
          <p:nvPr/>
        </p:nvSpPr>
        <p:spPr>
          <a:xfrm>
            <a:off x="6867144" y="4315968"/>
            <a:ext cx="45628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Bob itself is never called by the running application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4864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</p:spPr>
      </p:sp>
      <p:sp>
        <p:nvSpPr>
          <p:cNvPr id="25" name="Text 23"/>
          <p:cNvSpPr txBox="1"/>
          <p:nvPr/>
        </p:nvSpPr>
        <p:spPr>
          <a:xfrm>
            <a:off x="731520" y="548640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Bob AI is a build-time assistant. SupplyGuard’s runtime intelligence stays deterministic and explainable by design.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SUCCESS LOOKS LIKE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13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&amp; Impact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12898" cy="2148840"/>
          </a:xfrm>
          <a:prstGeom prst="roundRect">
            <a:avLst>
              <a:gd name="adj" fmla="val 510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0185" y="1682496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" name="Text 4"/>
          <p:cNvSpPr txBox="1"/>
          <p:nvPr/>
        </p:nvSpPr>
        <p:spPr>
          <a:xfrm>
            <a:off x="1604909" y="1825508"/>
            <a:ext cx="317480" cy="31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</a:t>
            </a:r>
            <a:endParaRPr lang="en-US" sz="93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6128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62072"/>
            <a:ext cx="243001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Test Suites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172968"/>
            <a:ext cx="233857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Risk, fleet, cold-chain, AI-contract, assistant &amp; MCP coverage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44418" y="1508760"/>
            <a:ext cx="2612898" cy="2148840"/>
          </a:xfrm>
          <a:prstGeom prst="roundRect">
            <a:avLst>
              <a:gd name="adj" fmla="val 510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403" y="1682496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 txBox="1"/>
          <p:nvPr/>
        </p:nvSpPr>
        <p:spPr>
          <a:xfrm>
            <a:off x="4492127" y="1825508"/>
            <a:ext cx="317480" cy="31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3344418" y="2286000"/>
            <a:ext cx="26128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435858" y="2862072"/>
            <a:ext cx="243001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Signal Domains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81578" y="3172968"/>
            <a:ext cx="233857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Shipments, disruptions, fleet, and cold-chain in one place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1636" y="1508760"/>
            <a:ext cx="2612898" cy="2148840"/>
          </a:xfrm>
          <a:prstGeom prst="roundRect">
            <a:avLst>
              <a:gd name="adj" fmla="val 510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54621" y="1682496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 txBox="1"/>
          <p:nvPr/>
        </p:nvSpPr>
        <p:spPr>
          <a:xfrm>
            <a:off x="7379345" y="1825508"/>
            <a:ext cx="317480" cy="31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6231636" y="2286000"/>
            <a:ext cx="26128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2862072"/>
            <a:ext cx="243001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Breakpoints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68796" y="3172968"/>
            <a:ext cx="233857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Desktop, tablet, and mobile dashboard layouts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18854" y="1508760"/>
            <a:ext cx="2612898" cy="2148840"/>
          </a:xfrm>
          <a:prstGeom prst="roundRect">
            <a:avLst>
              <a:gd name="adj" fmla="val 5106"/>
            </a:avLst>
          </a:prstGeom>
          <a:solidFill>
            <a:srgbClr val="EAF3F8"/>
          </a:solidFill>
          <a:effectLst>
            <a:outerShdw blurRad="1290320000" dist="322580000" dir="-1" algn="bl" rotWithShape="0">
              <a:srgbClr val="9DB3C7">
                <a:alpha val="-1494967295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41839" y="1682496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4" name="Text 22"/>
          <p:cNvSpPr txBox="1"/>
          <p:nvPr/>
        </p:nvSpPr>
        <p:spPr>
          <a:xfrm>
            <a:off x="10266563" y="1825508"/>
            <a:ext cx="317480" cy="31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2286000"/>
            <a:ext cx="26128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210294" y="2862072"/>
            <a:ext cx="243001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Writes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56014" y="3172968"/>
            <a:ext cx="233857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read-only by design — safe for ops review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97764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46227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0" name="Text 28"/>
          <p:cNvSpPr txBox="1"/>
          <p:nvPr/>
        </p:nvSpPr>
        <p:spPr>
          <a:xfrm>
            <a:off x="777240" y="43159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Consolidated visibility turns four scattered systems into one triage view.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02920" y="5029200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2" name="Text 30"/>
          <p:cNvSpPr txBox="1"/>
          <p:nvPr/>
        </p:nvSpPr>
        <p:spPr>
          <a:xfrm>
            <a:off x="777240" y="4882896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Deterministic, rule-cited risk scores make every decision explainable — not a black box.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02920" y="5596128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4" name="Text 32"/>
          <p:cNvSpPr txBox="1"/>
          <p:nvPr/>
        </p:nvSpPr>
        <p:spPr>
          <a:xfrm>
            <a:off x="777240" y="5449824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 guarantees let operations teams trust the dashboard with zero write-access risk.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560320"/>
            <a:ext cx="5852160" cy="5852160"/>
          </a:xfrm>
          <a:prstGeom prst="ellipse">
            <a:avLst/>
          </a:prstGeom>
          <a:solidFill>
            <a:srgbClr val="065A82">
              <a:alpha val="3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235440" y="3840480"/>
            <a:ext cx="5120640" cy="5120640"/>
          </a:xfrm>
          <a:prstGeom prst="ellipse">
            <a:avLst/>
          </a:prstGeom>
          <a:solidFill>
            <a:srgbClr val="1C7293">
              <a:alpha val="28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TEAM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26614" cy="3703320"/>
          </a:xfrm>
          <a:prstGeom prst="roundRect">
            <a:avLst>
              <a:gd name="adj" fmla="val 4178"/>
            </a:avLst>
          </a:prstGeom>
          <a:solidFill>
            <a:srgbClr val="2B3568"/>
          </a:solidFill>
        </p:spPr>
      </p:sp>
      <p:sp>
        <p:nvSpPr>
          <p:cNvPr id="7" name="Shape 5"/>
          <p:cNvSpPr/>
          <p:nvPr/>
        </p:nvSpPr>
        <p:spPr>
          <a:xfrm>
            <a:off x="1381887" y="226314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8" name="Text 6"/>
          <p:cNvSpPr txBox="1"/>
          <p:nvPr/>
        </p:nvSpPr>
        <p:spPr>
          <a:xfrm>
            <a:off x="1552880" y="2452421"/>
            <a:ext cx="435254" cy="43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244373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Jatin Solanki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244373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23IT125 · Leader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59352"/>
            <a:ext cx="240715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&amp; Demo Owner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25112"/>
            <a:ext cx="226085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cases, 3-min demo flow, business value narrative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9846" y="1965960"/>
            <a:ext cx="2626614" cy="3703320"/>
          </a:xfrm>
          <a:prstGeom prst="roundRect">
            <a:avLst>
              <a:gd name="adj" fmla="val 4178"/>
            </a:avLst>
          </a:prstGeom>
          <a:solidFill>
            <a:srgbClr val="2B3568"/>
          </a:solidFill>
        </p:spPr>
      </p:sp>
      <p:sp>
        <p:nvSpPr>
          <p:cNvPr id="14" name="Shape 12"/>
          <p:cNvSpPr/>
          <p:nvPr/>
        </p:nvSpPr>
        <p:spPr>
          <a:xfrm>
            <a:off x="4264533" y="226314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3"/>
          <p:cNvSpPr txBox="1"/>
          <p:nvPr/>
        </p:nvSpPr>
        <p:spPr>
          <a:xfrm>
            <a:off x="4435526" y="2452421"/>
            <a:ext cx="435254" cy="43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</a:t>
            </a:r>
            <a:endParaRPr lang="en-US" sz="1275" dirty="0"/>
          </a:p>
        </p:txBody>
      </p:sp>
      <p:sp>
        <p:nvSpPr>
          <p:cNvPr id="16" name="Text 14"/>
          <p:cNvSpPr txBox="1"/>
          <p:nvPr/>
        </p:nvSpPr>
        <p:spPr>
          <a:xfrm>
            <a:off x="3431286" y="3200400"/>
            <a:ext cx="244373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Shubham Zala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431286" y="3566160"/>
            <a:ext cx="244373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23IT140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449574" y="3959352"/>
            <a:ext cx="240715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&amp; Data Owner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22726" y="4325112"/>
            <a:ext cx="226085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 routes, Mongoose models, synthetic seed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22492" y="1965960"/>
            <a:ext cx="2626614" cy="3703320"/>
          </a:xfrm>
          <a:prstGeom prst="roundRect">
            <a:avLst>
              <a:gd name="adj" fmla="val 4178"/>
            </a:avLst>
          </a:prstGeom>
          <a:solidFill>
            <a:srgbClr val="2B3568"/>
          </a:solidFill>
        </p:spPr>
      </p:sp>
      <p:sp>
        <p:nvSpPr>
          <p:cNvPr id="21" name="Shape 19"/>
          <p:cNvSpPr/>
          <p:nvPr/>
        </p:nvSpPr>
        <p:spPr>
          <a:xfrm>
            <a:off x="7147179" y="226314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2" name="Text 20"/>
          <p:cNvSpPr txBox="1"/>
          <p:nvPr/>
        </p:nvSpPr>
        <p:spPr>
          <a:xfrm>
            <a:off x="7318172" y="2452421"/>
            <a:ext cx="435254" cy="43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</a:t>
            </a:r>
            <a:endParaRPr lang="en-US" sz="1275" dirty="0"/>
          </a:p>
        </p:txBody>
      </p:sp>
      <p:sp>
        <p:nvSpPr>
          <p:cNvPr id="23" name="Text 21"/>
          <p:cNvSpPr txBox="1"/>
          <p:nvPr/>
        </p:nvSpPr>
        <p:spPr>
          <a:xfrm>
            <a:off x="6313932" y="3200400"/>
            <a:ext cx="244373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Keval Dabhi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313932" y="3566160"/>
            <a:ext cx="244373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23IT019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32220" y="3959352"/>
            <a:ext cx="240715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Owner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5372" y="4325112"/>
            <a:ext cx="226085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dashboard, responsive layout, loading/error states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05138" y="1965960"/>
            <a:ext cx="2626614" cy="3703320"/>
          </a:xfrm>
          <a:prstGeom prst="roundRect">
            <a:avLst>
              <a:gd name="adj" fmla="val 4178"/>
            </a:avLst>
          </a:prstGeom>
          <a:solidFill>
            <a:srgbClr val="2B3568"/>
          </a:solidFill>
        </p:spPr>
      </p:sp>
      <p:sp>
        <p:nvSpPr>
          <p:cNvPr id="28" name="Shape 26"/>
          <p:cNvSpPr/>
          <p:nvPr/>
        </p:nvSpPr>
        <p:spPr>
          <a:xfrm>
            <a:off x="10029825" y="226314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9" name="Text 27"/>
          <p:cNvSpPr txBox="1"/>
          <p:nvPr/>
        </p:nvSpPr>
        <p:spPr>
          <a:xfrm>
            <a:off x="10200818" y="2452421"/>
            <a:ext cx="435254" cy="43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</a:t>
            </a:r>
            <a:endParaRPr lang="en-US" sz="1275" dirty="0"/>
          </a:p>
        </p:txBody>
      </p:sp>
      <p:sp>
        <p:nvSpPr>
          <p:cNvPr id="30" name="Text 28"/>
          <p:cNvSpPr txBox="1"/>
          <p:nvPr/>
        </p:nvSpPr>
        <p:spPr>
          <a:xfrm>
            <a:off x="9196578" y="3200400"/>
            <a:ext cx="244373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Keval Surela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9196578" y="3566160"/>
            <a:ext cx="244373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23IT130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214866" y="3959352"/>
            <a:ext cx="240715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Risk, AI &amp; QA Owner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288018" y="4325112"/>
            <a:ext cx="226085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engine, AI contract, test suites &amp; QA evidence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CSPIT (CHARUSAT)  ·  Information Technology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4126</Words>
  <Application>WPS Presentation</Application>
  <PresentationFormat>On-screen Show (16:9)</PresentationFormat>
  <Paragraphs>276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Shubham Zala</cp:lastModifiedBy>
  <cp:revision>2</cp:revision>
  <dcterms:created xsi:type="dcterms:W3CDTF">2026-09-15T06:25:00Z</dcterms:created>
  <dcterms:modified xsi:type="dcterms:W3CDTF">2026-09-15T06:33:47Z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8FBA956F9E4444EF95356F46BAE7FDA6_13</vt:lpwstr>
  </property>
  <property fmtid="{D5CDD505-2E9C-101B-9397-08002B2CF9AE}" pid="3" name="KSOProductBuildVer">
    <vt:lpwstr>2057-12.2.0.23206</vt:lpwstr>
  </property>
</Properties>
</file>